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400" b="1">
                <a:solidFill>
                  <a:srgbClr val="1F2937"/>
                </a:solidFill>
                <a:latin typeface="Georgia"/>
              </a:defRPr>
            </a:pPr>
            <a:r>
              <a:t>The Job Agent</a:t>
            </a:r>
            <a:br/>
            <a:r>
              <a:t>Application Lifecycle</a:t>
            </a:r>
          </a:p>
          <a:p>
            <a:pPr>
              <a:defRPr sz="2000">
                <a:solidFill>
                  <a:srgbClr val="3B82F6"/>
                </a:solidFill>
                <a:latin typeface="Arial"/>
              </a:defRPr>
            </a:pPr>
            <a:r>
              <a:t>A Systemic Walkthrough from Setup to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Job Agent Application Lifecycle &amp; Navigation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The 8-Phase Architectural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3716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1. Authorisation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Secure entry &amp; volatile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3774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2. Candidate Setup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Deterministic parameters &amp;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23774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13716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3. Job Collection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Ingestion &amp; normalisation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3774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13716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830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4. Matching &amp; Evaluation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Weighted algorithmic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3716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118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5. Draft Generation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Automated artifact 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42062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34747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47472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6118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6. Human Review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Strict quality assurance gates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062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4747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47472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118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7. Manual Handoff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Submission kits &amp; routing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06240"/>
            <a:ext cx="320040" cy="190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347472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3474720"/>
            <a:ext cx="13716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611880"/>
            <a:ext cx="22860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8. Application Tracking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Immutable timeline recording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1: Security, Authorisation, and Volatile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B7280"/>
                </a:solidFill>
                <a:latin typeface="Arial"/>
              </a:defRPr>
            </a:pPr>
            <a:r>
              <a:t>SECURE VAULT / ISOLATED MEMORY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4572000" cy="3108960"/>
          </a:xfrm>
          <a:prstGeom prst="rect">
            <a:avLst/>
          </a:prstGeom>
          <a:solidFill>
            <a:srgbClr val="F8F9F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Browser Memory Allocation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Temporary HTTP Basic Auth</a:t>
            </a:r>
            <a:r>
              <a:rPr sz="1300" b="0">
                <a:solidFill>
                  <a:srgbClr val="1F2937"/>
                </a:solidFill>
                <a:latin typeface="Arial"/>
              </a:rPr>
              <a:t>
Credentials reside strictly within the browser's active sandbox memory space.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Default Credentials:</a:t>
            </a:r>
            <a:r>
              <a:rPr sz="1300" b="0">
                <a:solidFill>
                  <a:srgbClr val="1F2937"/>
                </a:solidFill>
                <a:latin typeface="Arial"/>
              </a:rPr>
              <a:t>
• Username: jobagent
• Password: local_app_password_change_me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608015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5242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Strict Gated Entry</a:t>
            </a:r>
            <a:r>
              <a:rPr sz="1400" b="0">
                <a:solidFill>
                  <a:srgbClr val="1F2937"/>
                </a:solidFill>
                <a:latin typeface="Arial"/>
              </a:rPr>
              <a:t>
Access is exclusively gated at http://localhost:3000. No external routing is permitted.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5608015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5242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Volatile Credential Storage</a:t>
            </a:r>
            <a:r>
              <a:rPr sz="1400" b="0">
                <a:solidFill>
                  <a:srgbClr val="1F2937"/>
                </a:solidFill>
                <a:latin typeface="Arial"/>
              </a:rPr>
              <a:t>
Credentials are not saved to disk, SQLite, or cookies. Session remains active only in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663440"/>
            <a:ext cx="560801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54880"/>
            <a:ext cx="5242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REFRESH = SESSION DESTRUCTION</a:t>
            </a:r>
            <a:r>
              <a:rPr sz="1400" b="0">
                <a:solidFill>
                  <a:srgbClr val="F59E0B"/>
                </a:solidFill>
                <a:latin typeface="Arial"/>
              </a:rPr>
              <a:t>
Refreshing the browser page actively destroys the temporary session and logs the user out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2: The Setup Funnel &amp; Deterministic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1. Core Identity (Profile)</a:t>
            </a:r>
          </a:p>
          <a:p>
            <a:pPr>
              <a:spcAft>
                <a:spcPts val="1200"/>
              </a:spcAft>
              <a:defRPr sz="1100" i="1">
                <a:solidFill>
                  <a:srgbClr val="6B7280"/>
                </a:solidFill>
                <a:latin typeface="Arial"/>
              </a:defRPr>
            </a:pPr>
            <a:r>
              <a:t>Creates your foundational candidate profile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Strict Data Types: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Experience is entered in months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Notice period is entered in days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Required Fields: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Full Name, Email, Professional Title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Auto-Save Pattern: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No separate 'Create' button. 'Save Profile' creates if non-existent, updates if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2. Deterministic Rules (Preferences)</a:t>
            </a:r>
          </a:p>
          <a:p>
            <a:pPr>
              <a:spcAft>
                <a:spcPts val="1200"/>
              </a:spcAft>
              <a:defRPr sz="1100" i="1">
                <a:solidFill>
                  <a:srgbClr val="6B7280"/>
                </a:solidFill>
                <a:latin typeface="Arial"/>
              </a:defRPr>
            </a:pPr>
            <a:r>
              <a:t>Defines matching parameters for jobs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Comma Separated Values: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Supports lists (locations, titles, skills)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Exclusivity Logic: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A skill cannot be both required &amp; preferred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A location cannot be both preferred &amp; excluded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Validations: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Min experience cannot exceed max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At least one workplace type must be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47472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3. Raw Extraction (Resume Docs)</a:t>
            </a:r>
          </a:p>
          <a:p>
            <a:pPr>
              <a:spcAft>
                <a:spcPts val="1200"/>
              </a:spcAft>
              <a:defRPr sz="1100" i="1">
                <a:solidFill>
                  <a:srgbClr val="6B7280"/>
                </a:solidFill>
                <a:latin typeface="Arial"/>
              </a:defRPr>
            </a:pPr>
            <a:r>
              <a:t>Uploads original master resume document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MinIO Private Storage: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Secure binary preservation (PDF/DOCX)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Review text extraction: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Plaintext extraction displayed in UI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Active State Management:</a:t>
            </a:r>
          </a:p>
          <a:p>
            <a:pPr>
              <a:defRPr sz="1100" b="0">
                <a:solidFill>
                  <a:srgbClr val="6B7280"/>
                </a:solidFill>
                <a:latin typeface="Arial"/>
              </a:defRPr>
            </a:pPr>
            <a:r>
              <a:t>  - Only one master document active at a time</a:t>
            </a:r>
          </a:p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• NOTE: Uploading does NOT verify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The Evidence Bank: Preventing AI Hallucinations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1089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DRAFT</a:t>
            </a:r>
          </a:p>
          <a:p>
            <a:pPr>
              <a:spcAft>
                <a:spcPts val="400"/>
              </a:spcAft>
              <a:defRPr sz="1300" b="1">
                <a:solidFill>
                  <a:srgbClr val="1F2937"/>
                </a:solidFill>
                <a:latin typeface="Arial"/>
              </a:defRPr>
            </a:pPr>
            <a:r>
              <a:t>New facts enter here</a:t>
            </a:r>
          </a:p>
          <a:p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Unverified facts are never used in generation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2743200"/>
            <a:ext cx="73152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1089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VERIFIED</a:t>
            </a:r>
          </a:p>
          <a:p>
            <a:pPr>
              <a:spcAft>
                <a:spcPts val="400"/>
              </a:spcAft>
              <a:defRPr sz="1300" b="1">
                <a:solidFill>
                  <a:srgbClr val="1F2937"/>
                </a:solidFill>
                <a:latin typeface="Arial"/>
              </a:defRPr>
            </a:pPr>
            <a:r>
              <a:t>Requires human check</a:t>
            </a:r>
          </a:p>
          <a:p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Verified status is mandatory for published 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743200"/>
            <a:ext cx="73152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2011680"/>
            <a:ext cx="31089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PUBLISHED</a:t>
            </a:r>
          </a:p>
          <a:p>
            <a:pPr>
              <a:spcAft>
                <a:spcPts val="400"/>
              </a:spcAft>
              <a:defRPr sz="1300" b="1">
                <a:solidFill>
                  <a:srgbClr val="1F2937"/>
                </a:solidFill>
                <a:latin typeface="Arial"/>
              </a:defRPr>
            </a:pPr>
            <a:r>
              <a:t>Snapshot Locked</a:t>
            </a:r>
          </a:p>
          <a:p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Immutable versioned profiles use these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127729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  <a:latin typeface="Arial"/>
              </a:rPr>
              <a:t>The Immutability Penalty:</a:t>
            </a:r>
            <a:r>
              <a:rPr sz="1400" b="0">
                <a:solidFill>
                  <a:srgbClr val="EF4444"/>
                </a:solidFill>
                <a:latin typeface="Arial"/>
              </a:rPr>
              <a:t> Editing a verified fact forces an immediate state reset to DRAFT.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The Prime Directive:</a:t>
            </a:r>
            <a:r>
              <a:rPr sz="1300" b="0">
                <a:solidFill>
                  <a:srgbClr val="1F2937"/>
                </a:solidFill>
                <a:latin typeface="Arial"/>
              </a:rPr>
              <a:t> Generated drafts are structurally prevented from inventing skills or achievements. The system strictly builds upon explicitly verified facts &amp; reviewed reusable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3: The Job Ingestion &amp; Normalisation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Authorized Intake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Lever Company ID</a:t>
            </a:r>
            <a:r>
              <a:rPr sz="1200" b="0">
                <a:solidFill>
                  <a:srgbClr val="1F2937"/>
                </a:solidFill>
                <a:latin typeface="Arial"/>
              </a:rPr>
              <a:t>
Integration via corporate/site identifiers.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Greenhouse Token</a:t>
            </a:r>
            <a:r>
              <a:rPr sz="1200" b="0">
                <a:solidFill>
                  <a:srgbClr val="1F2937"/>
                </a:solidFill>
                <a:latin typeface="Arial"/>
              </a:rPr>
              <a:t>
Board token based mapping.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Structured Webhook</a:t>
            </a:r>
            <a:r>
              <a:rPr sz="1200" b="0">
                <a:solidFill>
                  <a:srgbClr val="1F2937"/>
                </a:solidFill>
                <a:latin typeface="Arial"/>
              </a:rPr>
              <a:t>
Direct inbound email parser.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Safety rule:</a:t>
            </a:r>
            <a:r>
              <a:rPr sz="1200" b="0">
                <a:solidFill>
                  <a:srgbClr val="F59E0B"/>
                </a:solidFill>
                <a:latin typeface="Arial"/>
              </a:rPr>
              <a:t>
Arbitrary external URLs are strictly rejected.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3657600"/>
            <a:ext cx="6400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40233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Normalisation Engine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Stripping Unsafe Payload:</a:t>
            </a:r>
            <a:r>
              <a:rPr sz="1200" b="0">
                <a:solidFill>
                  <a:srgbClr val="1F2937"/>
                </a:solidFill>
                <a:latin typeface="Arial"/>
              </a:rPr>
              <a:t>
Malicious scripts and unsafe HTML tags are entirely removed.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URL Canonicalisation:</a:t>
            </a:r>
            <a:r>
              <a:rPr sz="1200" b="0">
                <a:solidFill>
                  <a:srgbClr val="1F2937"/>
                </a:solidFill>
                <a:latin typeface="Arial"/>
              </a:rPr>
              <a:t>
Job posting URLs are cleaned and standardised.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Duplicate Checking:</a:t>
            </a:r>
            <a:r>
              <a:rPr sz="1200" b="0">
                <a:solidFill>
                  <a:srgbClr val="1F2937"/>
                </a:solidFill>
                <a:latin typeface="Arial"/>
              </a:rPr>
              <a:t>
Detects and links matching roles automatically.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Operational Metrics:</a:t>
            </a:r>
            <a:r>
              <a:rPr sz="1200" b="0">
                <a:solidFill>
                  <a:srgbClr val="1F2937"/>
                </a:solidFill>
                <a:latin typeface="Arial"/>
              </a:rPr>
              <a:t>
Tracks Discovered, Created, Updated, Unchanged, Duplicate, Failed, and Removed on each run.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23960" y="3657600"/>
            <a:ext cx="6400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645920"/>
            <a:ext cx="2956255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828800"/>
            <a:ext cx="26819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Unified State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Normalized Jobs</a:t>
            </a:r>
            <a:r>
              <a:rPr sz="1200" b="0">
                <a:solidFill>
                  <a:srgbClr val="1F2937"/>
                </a:solidFill>
                <a:latin typeface="Arial"/>
              </a:rPr>
              <a:t>
Consolidated list for all connected systems.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Ready States:</a:t>
            </a:r>
            <a:r>
              <a:rPr sz="1200" b="0">
                <a:solidFill>
                  <a:srgbClr val="1F2937"/>
                </a:solidFill>
                <a:latin typeface="Arial"/>
              </a:rPr>
              <a:t>
• READY_FOR_EVALUATION
• NEEDS_REVIEW
• DUPLICATE
• EXPIRED
• ARCHIVED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Intelligent Bounds:</a:t>
            </a:r>
            <a:r>
              <a:rPr sz="1200" b="0">
                <a:solidFill>
                  <a:srgbClr val="1F2937"/>
                </a:solidFill>
                <a:latin typeface="Arial"/>
              </a:rPr>
              <a:t>
Failed runs or partial syncs do NOT purge missing jobs, preventing data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4: Weighted Matching Settings &amp; Scoring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Six Weighted Dimensions (Total = 100)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1. Skills Match:</a:t>
            </a:r>
            <a:r>
              <a:rPr sz="1300" b="0">
                <a:solidFill>
                  <a:srgbClr val="1F2937"/>
                </a:solidFill>
                <a:latin typeface="Arial"/>
              </a:rPr>
              <a:t> Weights matched requirements vs preferences.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2. Experience Fit:</a:t>
            </a:r>
            <a:r>
              <a:rPr sz="1300" b="0">
                <a:solidFill>
                  <a:srgbClr val="1F2937"/>
                </a:solidFill>
                <a:latin typeface="Arial"/>
              </a:rPr>
              <a:t> Assesses minimum and maximum bounds.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3. Location Check:</a:t>
            </a:r>
            <a:r>
              <a:rPr sz="1300" b="0">
                <a:solidFill>
                  <a:srgbClr val="1F2937"/>
                </a:solidFill>
                <a:latin typeface="Arial"/>
              </a:rPr>
              <a:t> Cross-references preferred &amp; excluded locations.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4. Role Mapping / Compensation / Domain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Recommendation Thresholds &amp; Tiers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STRONG_APPLY:</a:t>
            </a:r>
            <a:r>
              <a:rPr sz="1300" b="0">
                <a:solidFill>
                  <a:srgbClr val="1F2937"/>
                </a:solidFill>
                <a:latin typeface="Arial"/>
              </a:rPr>
              <a:t> High match score across multiple core weights.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APPLY:</a:t>
            </a:r>
            <a:r>
              <a:rPr sz="1300" b="0">
                <a:solidFill>
                  <a:srgbClr val="1F2937"/>
                </a:solidFill>
                <a:latin typeface="Arial"/>
              </a:rPr>
              <a:t> Satisfies required settings with minor variances.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MANUAL_REVIEW:</a:t>
            </a:r>
            <a:r>
              <a:rPr sz="1300" b="0">
                <a:solidFill>
                  <a:srgbClr val="1F2937"/>
                </a:solidFill>
                <a:latin typeface="Arial"/>
              </a:rPr>
              <a:t> Missing preferred parameters, requires user look.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SKIP:</a:t>
            </a:r>
            <a:r>
              <a:rPr sz="1300" b="0">
                <a:solidFill>
                  <a:srgbClr val="1F2937"/>
                </a:solidFill>
                <a:latin typeface="Arial"/>
              </a:rPr>
              <a:t> Triggers deterministic filters (e.g. excluded companies).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1127729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System Operational Warning:</a:t>
            </a:r>
            <a:r>
              <a:rPr sz="1300" b="0">
                <a:solidFill>
                  <a:srgbClr val="F59E0B"/>
                </a:solidFill>
                <a:latin typeface="Arial"/>
              </a:rPr>
              <a:t> Altering any matching parameters or weight settings immediately renders all older historical evaluations stale.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5 &amp; 6: Application Package Drafting and Human QA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Phase 5: Automated Draft Assembly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Consolidated Packaging:</a:t>
            </a:r>
            <a:r>
              <a:rPr sz="1200" b="0">
                <a:solidFill>
                  <a:srgbClr val="1F2937"/>
                </a:solidFill>
                <a:latin typeface="Arial"/>
              </a:rPr>
              <a:t>
Each package maps 1 candidate to 1 specific job.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Component Outputs:
</a:t>
            </a:r>
            <a:r>
              <a:rPr sz="1200" b="0">
                <a:solidFill>
                  <a:srgbClr val="1F2937"/>
                </a:solidFill>
                <a:latin typeface="Arial"/>
              </a:rPr>
              <a:t>• Tailored Resume (available in HTML, PDF, and DOCX formats)
• Cover Letter Drafts
• Recruiter Message Templates
• Drafted answers to customized job application questions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Critical State Bound:</a:t>
            </a:r>
            <a:r>
              <a:rPr sz="1200" b="0">
                <a:solidFill>
                  <a:srgbClr val="F59E0B"/>
                </a:solidFill>
                <a:latin typeface="Arial"/>
              </a:rPr>
              <a:t>
READY = Draft exists.
READY does NOT mean approved or submitted.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Phase 6: Strict Human Quality Review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Manual Inspection Process:</a:t>
            </a:r>
            <a:r>
              <a:rPr sz="1200" b="0">
                <a:solidFill>
                  <a:srgbClr val="1F2937"/>
                </a:solidFill>
                <a:latin typeface="Arial"/>
              </a:rPr>
              <a:t>
Reviewer performs critical verification checks of the generated resume, fact evidence, and warnings.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Lifecycle Decision States:
</a:t>
            </a:r>
            <a:r>
              <a:rPr sz="1200" b="0">
                <a:solidFill>
                  <a:srgbClr val="1F2937"/>
                </a:solidFill>
                <a:latin typeface="Arial"/>
              </a:rPr>
              <a:t>• Approve for Handoff: Clears exact revision to enter manual submission flow.
• Request Changes: Rejects package and forces comment-driven feedback loops.
• Reject: Terminates application package execution entirely.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F4444"/>
                </a:solidFill>
                <a:latin typeface="Arial"/>
              </a:rPr>
              <a:t>The Invalidation Rule:</a:t>
            </a:r>
            <a:r>
              <a:rPr sz="1200" b="0">
                <a:solidFill>
                  <a:srgbClr val="EF4444"/>
                </a:solidFill>
                <a:latin typeface="Arial"/>
              </a:rPr>
              <a:t>
Any subsequent edits to approved content immediately invalidate previous approval states, requiring a fresh review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Phase 7 &amp; 8: Manual Handoffs and Backend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Phase 7: Manual Submission Kits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The boundary condition:</a:t>
            </a:r>
            <a:r>
              <a:rPr sz="1200" b="0">
                <a:solidFill>
                  <a:srgbClr val="F59E0B"/>
                </a:solidFill>
                <a:latin typeface="Arial"/>
              </a:rPr>
              <a:t>
The system does NOT autofill or auto-submit external forms directly. The candidate executes the final action.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Submission Kit Assembly:
</a:t>
            </a:r>
            <a:r>
              <a:rPr sz="1200" b="0">
                <a:solidFill>
                  <a:srgbClr val="1F2937"/>
                </a:solidFill>
                <a:latin typeface="Arial"/>
              </a:rPr>
              <a:t>• Approved resume artifacts (clean downloads)
• Approved cover letters &amp; recruiter messages
• Structured answers ready to copy-paste
• Specific system alerts pointing out questions requiring manual input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Closing Feedback Loop:
</a:t>
            </a:r>
            <a:r>
              <a:rPr sz="1200" b="0">
                <a:solidFill>
                  <a:srgbClr val="1F2937"/>
                </a:solidFill>
                <a:latin typeface="Arial"/>
              </a:rPr>
              <a:t>User goes to the external job URL, manually submits, and returns to record the final outcome: 'I submitted', 'Not submitted', or 'Cancel'.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Arial"/>
              </a:rPr>
              <a:t>Phase 8: Application Tracking Architecture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Functional Backend State (/api/v1/applications):</a:t>
            </a:r>
            <a:r>
              <a:rPr sz="1200" b="0">
                <a:solidFill>
                  <a:srgbClr val="1F2937"/>
                </a:solidFill>
                <a:latin typeface="Arial"/>
              </a:rPr>
              <a:t>
Tracks notes, chronological timelines, and lifecycle status transitions.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Standard Lifecycle Tracking Statuses:
</a:t>
            </a:r>
            <a:r>
              <a:rPr sz="1200" b="0">
                <a:solidFill>
                  <a:srgbClr val="1F2937"/>
                </a:solidFill>
                <a:latin typeface="Arial"/>
              </a:rPr>
              <a:t>• SUBMITTED / ACKNOWLEDGED
• UNDER_REVIEW
• ASSESSMENT / INTERVIEW
• OFFER / REJECTED
• WITHDRAWN / EXPIRED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F4444"/>
                </a:solidFill>
                <a:latin typeface="Arial"/>
              </a:rPr>
              <a:t>Current Architectural Limitations:</a:t>
            </a:r>
            <a:r>
              <a:rPr sz="1200" b="0">
                <a:solidFill>
                  <a:srgbClr val="EF4444"/>
                </a:solidFill>
                <a:latin typeface="Arial"/>
              </a:rPr>
              <a:t>
• React frontend UI page and navigation item are not yet implemented.
• Automated reminder scheduling is inactive.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Georgia"/>
              </a:defRPr>
            </a:pPr>
            <a:r>
              <a:t>The Setup Dependency &amp; UI Walkthrough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852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  <a:latin typeface="Arial"/>
              </a:rPr>
              <a:t>Recommended System Initialization Order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1. Configure Profile &amp; Setup Preferences</a:t>
            </a:r>
            <a:r>
              <a:rPr sz="1100" b="0">
                <a:solidFill>
                  <a:srgbClr val="1F2937"/>
                </a:solidFill>
                <a:latin typeface="Arial"/>
              </a:rPr>
              <a:t>
Input core details; define matching restrictions.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2. Upload &amp; Activate Resume Documents</a:t>
            </a:r>
            <a:r>
              <a:rPr sz="1100" b="0">
                <a:solidFill>
                  <a:srgbClr val="1F2937"/>
                </a:solidFill>
                <a:latin typeface="Arial"/>
              </a:rPr>
              <a:t>
Preserve master PDF/DOCX and run text extractor.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3. Verify Resume Facts &amp; Pre-Save Reusable Answers</a:t>
            </a:r>
            <a:r>
              <a:rPr sz="1100" b="0">
                <a:solidFill>
                  <a:srgbClr val="1F2937"/>
                </a:solidFill>
                <a:latin typeface="Arial"/>
              </a:rPr>
              <a:t>
Explicitly approve fact blocks; populate standard questions.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4. Publish Stable Version Snapshot</a:t>
            </a:r>
            <a:r>
              <a:rPr sz="1100" b="0">
                <a:solidFill>
                  <a:srgbClr val="1F2937"/>
                </a:solidFill>
                <a:latin typeface="Arial"/>
              </a:rPr>
              <a:t>
Lock setup state before launching job ingestion/evaluation.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5. Create Job -&gt; Evaluate -&gt; Generate -&gt; Review -&gt; Handoff</a:t>
            </a:r>
            <a:r>
              <a:rPr sz="1100" b="0">
                <a:solidFill>
                  <a:srgbClr val="1F2937"/>
                </a:solidFill>
                <a:latin typeface="Arial"/>
              </a:rPr>
              <a:t>
Run the application cycle sequence from ingestion to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15081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7850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4444"/>
                </a:solidFill>
                <a:latin typeface="Arial"/>
              </a:rPr>
              <a:t>System Diagnostic: The 404 Rule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The Principle of Sequential Dependency:
</a:t>
            </a:r>
            <a:r>
              <a:rPr sz="1300" b="0">
                <a:solidFill>
                  <a:srgbClr val="1F2937"/>
                </a:solidFill>
                <a:latin typeface="Arial"/>
              </a:rPr>
              <a:t>The Job Agent Application is an uncompromising linear pipeline.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Why do pages return 404 Found?
</a:t>
            </a:r>
            <a:r>
              <a:rPr sz="1300" b="0">
                <a:solidFill>
                  <a:srgbClr val="1F2937"/>
                </a:solidFill>
                <a:latin typeface="Arial"/>
              </a:rPr>
              <a:t>During candidate setup, encountering a 404 error reliably indicates that an architectural prerequisite earlier in the initialization sequence has not been created.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Recommended Action:
</a:t>
            </a:r>
            <a:r>
              <a:rPr sz="1300" b="0">
                <a:solidFill>
                  <a:srgbClr val="1F2937"/>
                </a:solidFill>
                <a:latin typeface="Arial"/>
              </a:rPr>
              <a:t>If a step fails, follow the walkthrough sequence backwards and ensure the preceding states are active and fully published.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